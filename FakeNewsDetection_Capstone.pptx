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79" y="0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56032"/>
            <a:ext cx="18288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743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CAPSTONE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56032"/>
            <a:ext cx="822960" cy="29260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7432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836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AI-Based Fake News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4475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B4D8"/>
                </a:solidFill>
                <a:latin typeface="Segoe UI"/>
              </a:rPr>
              <a:t>Detection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59152"/>
            <a:ext cx="84124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871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6E0"/>
                </a:solidFill>
                <a:latin typeface="Segoe UI"/>
              </a:rPr>
              <a:t>Machine Learning Pipeline  ·  NLP  ·  Multi-Phase Roadmap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389120"/>
            <a:ext cx="9144000" cy="758952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" y="44074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Segoe UI"/>
              </a:rPr>
              <a:t>44,898 Articles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4709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Segoe UI"/>
              </a:rPr>
              <a:t>Dataset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44074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Segoe UI"/>
              </a:rPr>
              <a:t>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4248" y="4709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Segoe UI"/>
              </a:rPr>
              <a:t>Best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44074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Segoe UI"/>
              </a:rPr>
              <a:t>99.22%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4709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Segoe UI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407" y="44074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Segoe UI"/>
              </a:rPr>
              <a:t>99.25%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0407" y="4709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Segoe UI"/>
              </a:rPr>
              <a:t>F1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40740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  <a:latin typeface="Segoe UI"/>
              </a:rPr>
              <a:t>99.96%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70916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Segoe UI"/>
              </a:rPr>
              <a:t>ROC-AUC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005840"/>
            <a:ext cx="109728" cy="10972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548640"/>
            <a:ext cx="128015" cy="12801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1280160"/>
            <a:ext cx="146304" cy="14630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822960"/>
            <a:ext cx="164592" cy="1645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645920"/>
            <a:ext cx="182880" cy="1828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Why does fake news detection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920240" cy="201168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920240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76F"/>
                </a:solidFill>
                <a:latin typeface="Segoe UI"/>
              </a:rPr>
              <a:t>86%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2996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  <a:latin typeface="Segoe UI"/>
              </a:rPr>
              <a:t>of internet users
have been misled
by fake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143000"/>
            <a:ext cx="1920240" cy="201168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1143000"/>
            <a:ext cx="192024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344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166"/>
                </a:solidFill>
                <a:latin typeface="Segoe UI"/>
              </a:rPr>
              <a:t>$78B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2996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  <a:latin typeface="Segoe UI"/>
              </a:rPr>
              <a:t>estimated annual
economic damage
from misinformation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143000"/>
            <a:ext cx="1920240" cy="201168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59" y="1143000"/>
            <a:ext cx="19202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2344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4D8"/>
                </a:solidFill>
                <a:latin typeface="Segoe UI"/>
              </a:rPr>
              <a:t>6×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599" y="202996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  <a:latin typeface="Segoe UI"/>
              </a:rPr>
              <a:t>faster spread of
false news vs
real news (MIT)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19" y="1143000"/>
            <a:ext cx="1920240" cy="201168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19" y="1143000"/>
            <a:ext cx="192024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19" y="12344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D6A0"/>
                </a:solidFill>
                <a:latin typeface="Segoe UI"/>
              </a:rPr>
              <a:t>2.3B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2029968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  <a:latin typeface="Segoe UI"/>
              </a:rPr>
              <a:t>social media users
exposed daily to
unverified content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37560"/>
            <a:ext cx="84124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56432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Traditional manual fact-checking cannot scale to the volume of online content. An AI-driven system can analyse thousands of articles per second with high accuracy.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18795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→  Our Solution: ML + NLP pipeline for automated, real-time fake news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Kaggle — Fake and Real News Dataset (Ahmed et al.)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931920" cy="35661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📋  Dataset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Segoe UI"/>
              </a:rPr>
              <a:t>Total articles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41732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44,898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Segoe UI"/>
              </a:rPr>
              <a:t>Fake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85623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23,481  (52.3%)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9514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Segoe UI"/>
              </a:rPr>
              <a:t>Real articles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2951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21,417  (47.7%)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3405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Segoe UI"/>
              </a:rPr>
              <a:t>Missing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734056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0 articles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7296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Segoe UI"/>
              </a:rPr>
              <a:t>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17296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Reuters.com + PolitiFact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11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Segoe UI"/>
              </a:rPr>
              <a:t>Date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61188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2015 –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AA"/>
                </a:solidFill>
                <a:latin typeface="Segoe UI"/>
              </a:rP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050791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title, text, subject, date, label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005840"/>
            <a:ext cx="4251960" cy="35661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📊  Subject Categories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4813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politicsNews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527048"/>
            <a:ext cx="2258568" cy="21945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48132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Segoe UI"/>
              </a:rPr>
              <a:t>38%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9842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worldnews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029967"/>
            <a:ext cx="1307592" cy="21945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3" y="198424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487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News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2532888"/>
            <a:ext cx="1069848" cy="21945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248716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Segoe UI"/>
              </a:rPr>
              <a:t>18%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990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politics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035808"/>
            <a:ext cx="653796" cy="21945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76388" y="299008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Segoe UI"/>
              </a:rPr>
              <a:t>11%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3493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left-news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3538728"/>
            <a:ext cx="416051" cy="21945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8644" y="349300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Segoe UI"/>
              </a:rPr>
              <a:t>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9959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Government News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041648"/>
            <a:ext cx="237744" cy="21945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399592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9AA"/>
                </a:solidFill>
                <a:latin typeface="Segoe UI"/>
              </a:rPr>
              <a:t>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Week 1 —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End-to-end baseline pipeline implemented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097280"/>
            <a:ext cx="1572768" cy="26517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097280"/>
            <a:ext cx="157276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170432"/>
            <a:ext cx="475488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161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719072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Load
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04288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2359152"/>
            <a:ext cx="142646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Fake.csv +
True.csv
44,898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" y="2148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99AA"/>
                </a:solidFill>
                <a:latin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0824" y="1097280"/>
            <a:ext cx="1572768" cy="26517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20824" y="1097280"/>
            <a:ext cx="1572768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9464" y="1170432"/>
            <a:ext cx="475488" cy="47548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9464" y="1161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1719072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Pre-
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304288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3976" y="2359152"/>
            <a:ext cx="142646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Lowercase
URL removal
Stemming
Stop-words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5" y="2148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99AA"/>
                </a:solidFill>
                <a:latin typeface="Segoe U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5" y="1097280"/>
            <a:ext cx="1572768" cy="26517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85615" y="1097280"/>
            <a:ext cx="1572768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4255" y="1170432"/>
            <a:ext cx="475488" cy="4754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5" y="1161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1719072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TF-IDF
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304288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359152"/>
            <a:ext cx="142646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Unigrams +
Bigrams
5,000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7" y="2148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99AA"/>
                </a:solidFill>
                <a:latin typeface="Segoe UI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8" y="1097280"/>
            <a:ext cx="1572768" cy="26517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0408" y="1097280"/>
            <a:ext cx="1572768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8" y="1170432"/>
            <a:ext cx="475488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9048" y="1161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1719072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Train
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304288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2359152"/>
            <a:ext cx="142646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Logistic
Regression
Naive Bayes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1488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99AA"/>
                </a:solidFill>
                <a:latin typeface="Segoe U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1097280"/>
            <a:ext cx="1572768" cy="26517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0" y="1097280"/>
            <a:ext cx="1572768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0" y="1170432"/>
            <a:ext cx="475488" cy="47548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116128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1719072"/>
            <a:ext cx="14264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Evaluate
&amp; Save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304288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8352" y="2359152"/>
            <a:ext cx="142646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Accuracy, F1
ROC-AUC
Confusion matrix
Save .pkl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886200"/>
            <a:ext cx="84124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400507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  <a:latin typeface="Segoe UI"/>
              </a:rPr>
              <a:t>src/config.py  ·  src/load_data.py  ·  src/preprocess.py  ·  src/features.py  ·  src/train_model.py  ·  src/evaluate.py  ·  main.py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Week 1 —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Baseline model performance on 8,980 test articles (80/20 split)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931920" cy="3657600"/>
          </a:xfrm>
          <a:prstGeom prst="rect">
            <a:avLst/>
          </a:prstGeom>
          <a:solidFill>
            <a:srgbClr val="0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9319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🥇  Logistic Regression  (Best)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3749039" cy="4754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6276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6D6A0"/>
                </a:solidFill>
                <a:latin typeface="Segoe UI"/>
              </a:rPr>
              <a:t>99.22%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39696"/>
            <a:ext cx="3749039" cy="4754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128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1945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  <a:latin typeface="Segoe UI"/>
              </a:rPr>
              <a:t>99.49%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06624"/>
            <a:ext cx="3749039" cy="4754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614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48CAE4"/>
                </a:solidFill>
                <a:latin typeface="Segoe UI"/>
              </a:rPr>
              <a:t>99.02%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73552"/>
            <a:ext cx="3749039" cy="4754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F1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3284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6D6A0"/>
                </a:solidFill>
                <a:latin typeface="Segoe UI"/>
              </a:rPr>
              <a:t>99.25%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3749039" cy="47548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13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ROC-AUC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89534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166"/>
                </a:solidFill>
                <a:latin typeface="Segoe UI"/>
              </a:rPr>
              <a:t>99.96%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051560"/>
            <a:ext cx="4251960" cy="3657600"/>
          </a:xfrm>
          <a:prstGeom prst="rect">
            <a:avLst/>
          </a:prstGeom>
          <a:solidFill>
            <a:srgbClr val="1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1051560"/>
            <a:ext cx="4251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1155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🔵  Naive Bayes (Baseline)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572768"/>
            <a:ext cx="4069080" cy="475488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1645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62763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  <a:latin typeface="Segoe UI"/>
              </a:rPr>
              <a:t>95.14%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139696"/>
            <a:ext cx="4069080" cy="475488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22128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1945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48CAE4"/>
                </a:solidFill>
                <a:latin typeface="Segoe UI"/>
              </a:rPr>
              <a:t>95.47%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706624"/>
            <a:ext cx="4069080" cy="475488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2779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7614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48CAE4"/>
                </a:solidFill>
                <a:latin typeface="Segoe UI"/>
              </a:rPr>
              <a:t>95.23%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3273552"/>
            <a:ext cx="4069080" cy="475488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F1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32841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B4D8"/>
                </a:solidFill>
                <a:latin typeface="Segoe UI"/>
              </a:rPr>
              <a:t>95.35%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840480"/>
            <a:ext cx="4069080" cy="475488"/>
          </a:xfrm>
          <a:prstGeom prst="rect">
            <a:avLst/>
          </a:prstGeom>
          <a:solidFill>
            <a:srgbClr val="0A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39136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  <a:latin typeface="Segoe UI"/>
              </a:rPr>
              <a:t>ROC-AUC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389534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166"/>
                </a:solidFill>
                <a:latin typeface="Segoe UI"/>
              </a:rPr>
              <a:t>98.78%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899AA"/>
                </a:solidFill>
                <a:latin typeface="Segoe UI"/>
              </a:rPr>
              <a:t>VS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79145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Segoe UI"/>
              </a:rPr>
              <a:t>★  Winner: Logistic Regression   |   Saved to models/logistic_regression.pkl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Clean, modular Python package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657600" cy="393192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onsolas"/>
              </a:rPr>
              <a:t>FakeNews/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12527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onsolas"/>
              </a:rPr>
              <a:t>├── data/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1453895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├── Fake.csv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65506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└── True.csv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1856231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D166"/>
                </a:solidFill>
                <a:latin typeface="Consolas"/>
              </a:rPr>
              <a:t>├── models/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05740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└── *.pkl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2585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onsolas"/>
              </a:rPr>
              <a:t>├── notebooks/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45973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└── week1_eda.ipynb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26609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D8"/>
                </a:solidFill>
                <a:latin typeface="Consolas"/>
              </a:rPr>
              <a:t>├── src/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286207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├── config.py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06324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├── load_data.py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" y="326440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├── preprocess.py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346557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├── features.py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366674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├── train_model.py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86791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Consolas"/>
              </a:rPr>
              <a:t>│   └── evaluate.py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0690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D6A0"/>
                </a:solidFill>
                <a:latin typeface="Consolas"/>
              </a:rPr>
              <a:t>├── app/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427024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onsolas"/>
              </a:rPr>
              <a:t>│   └── (coming soon)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47141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onsolas"/>
              </a:rPr>
              <a:t>├── main.py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" y="4672583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99AA"/>
                </a:solidFill>
                <a:latin typeface="Consolas"/>
              </a:rPr>
              <a:t>└── requirements.txt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1005840"/>
            <a:ext cx="4663440" cy="39319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10515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Segoe UI"/>
              </a:rPr>
              <a:t>Module Responsibilities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1444752"/>
            <a:ext cx="54864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14447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config.py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166420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All paths, hyper-parameters, constants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1938528"/>
            <a:ext cx="54864" cy="31089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1938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Segoe UI"/>
              </a:rPr>
              <a:t>load_data.py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215798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Read CSVs, label, shuffle, summary stats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432304"/>
            <a:ext cx="54864" cy="31089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2432304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Segoe UI"/>
              </a:rPr>
              <a:t>preprocess.py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2651760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Clean text: URLs, stop-words, stemming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926080"/>
            <a:ext cx="54864" cy="310896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70832" y="29260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Segoe UI"/>
              </a:rPr>
              <a:t>features.py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314553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TF-IDF vectoriser (fit / transform)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3419856"/>
            <a:ext cx="54864" cy="310896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3419856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Segoe UI"/>
              </a:rPr>
              <a:t>train_model.py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363931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Train models, save / load .pkl files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0" y="3913632"/>
            <a:ext cx="54864" cy="31089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0832" y="391363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9AA"/>
                </a:solidFill>
                <a:latin typeface="Segoe UI"/>
              </a:rPr>
              <a:t>evaluate.py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2" y="413308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Metrics, confusion matrix, comparison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0" y="4407408"/>
            <a:ext cx="5486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0832" y="440740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main.py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4626864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Orchestrates the full 5-step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Week 2 — Terminal CLI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Real-time fake news prediction from the command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212080" cy="370332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212080" cy="3474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64592" cy="16459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143000"/>
            <a:ext cx="164592" cy="16459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" y="1143000"/>
            <a:ext cx="164592" cy="16459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0881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Consolas"/>
              </a:rPr>
              <a:t>Terminal — FakeNewsDetector 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D6A0"/>
                </a:solidFill>
                <a:latin typeface="Consolas"/>
              </a:rPr>
              <a:t>$ python cli.py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5506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4D8"/>
                </a:solidFill>
                <a:latin typeface="Consola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Consolas"/>
              </a:rPr>
              <a:t>╔══════════════════════════════════╗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0253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Consolas"/>
              </a:rPr>
              <a:t>║   🔍 Fake News Detector v1.0    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7627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Consolas"/>
              </a:rPr>
              <a:t>╚══════════════════════════════════╝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5000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  <a:latin typeface="Consolas"/>
              </a:rPr>
              <a:t>Model loaded: logistic_regression.pkl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2374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4D8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9748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166"/>
                </a:solidFill>
                <a:latin typeface="Consolas"/>
              </a:rPr>
              <a:t>Paste article text (or URL):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7121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&gt; Breaking: Scientists confirm water on Mars...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4495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4D8"/>
                </a:solidFill>
                <a:latin typeface="Consola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1868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  <a:latin typeface="Consolas"/>
              </a:rPr>
              <a:t>Analysing...  ████████████ 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9242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4D8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D6A0"/>
                </a:solidFill>
                <a:latin typeface="Consolas"/>
              </a:rPr>
              <a:t>✅  PREDICTION : REAL 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39896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6D6A0"/>
                </a:solidFill>
                <a:latin typeface="Consolas"/>
              </a:rPr>
              <a:t>   Confidence : 97.3%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13632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99AA"/>
                </a:solidFill>
                <a:latin typeface="Consolas"/>
              </a:rPr>
              <a:t>   Tokens     : 147  |  Time: 0.02s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87368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B4D8"/>
                </a:solidFill>
                <a:latin typeface="Consola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61104"/>
            <a:ext cx="4937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D166"/>
                </a:solidFill>
                <a:latin typeface="Consolas"/>
              </a:rPr>
              <a:t>Analyse another? [y/n]: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1051560"/>
            <a:ext cx="3154680" cy="370332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0" y="1051560"/>
            <a:ext cx="31546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11155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Segoe UI"/>
              </a:rPr>
              <a:t>CLI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15727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›  Interactive prompt 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19842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›  Single article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23957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›  Batch file processing  (.csv)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80720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›  Confidence score display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321868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›  Coloured terminal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6301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›  Processing time stats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40416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›  Auto-load best saved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44531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166"/>
                </a:solidFill>
                <a:latin typeface="Segoe UI"/>
              </a:rPr>
              <a:t>›  URL text extraction (BeautifulSoup)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97880" y="4389120"/>
            <a:ext cx="13716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44074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app/cli.py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4389120"/>
            <a:ext cx="1371600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440740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Week 2 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Week 3 — Streamlit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Interactive browser-based UI for article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486400" cy="3749039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00" cy="4114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124712"/>
            <a:ext cx="146304" cy="14630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124712"/>
            <a:ext cx="146304" cy="14630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124712"/>
            <a:ext cx="146304" cy="14630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115568"/>
            <a:ext cx="4206240" cy="2743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133856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onsolas"/>
              </a:rPr>
              <a:t>localhost:8501  /  Fake News Detector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54864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48132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🔍  Fake News Detection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38528"/>
            <a:ext cx="1188720" cy="2862072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1993392"/>
            <a:ext cx="1051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Segoe UI"/>
              </a:rPr>
              <a:t>⚙ 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2860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66"/>
                </a:solidFill>
                <a:latin typeface="Segoe UI"/>
              </a:rPr>
              <a:t>•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3347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66"/>
                </a:solidFill>
                <a:latin typeface="Segoe UI"/>
              </a:rPr>
              <a:t>•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809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66"/>
                </a:solidFill>
                <a:latin typeface="Segoe UI"/>
              </a:rPr>
              <a:t>•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2841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66"/>
                </a:solidFill>
                <a:latin typeface="Segoe UI"/>
              </a:rPr>
              <a:t>•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1938528"/>
            <a:ext cx="4160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201168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Segoe UI"/>
              </a:rPr>
              <a:t>Paste your article text here...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08760" y="2971800"/>
            <a:ext cx="1371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298094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🔍 Analyse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3429000"/>
            <a:ext cx="4160520" cy="12801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08760" y="3429000"/>
            <a:ext cx="416052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Segoe UI"/>
              </a:rPr>
              <a:t>✅  REAL NEWS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886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6633"/>
                </a:solidFill>
                <a:latin typeface="Segoe UI"/>
              </a:rPr>
              <a:t>Confidence: 97.3%  |  Tokens: 147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2062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onsolas"/>
              </a:rPr>
              <a:t>████████████████████░░░░  97.3%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051560"/>
            <a:ext cx="2834640" cy="3749039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1051560"/>
            <a:ext cx="283464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1115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A0"/>
                </a:solidFill>
                <a:latin typeface="Segoe UI"/>
              </a:rPr>
              <a:t>Web App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15361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›  Clean Streamlit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1892807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›  Text &amp; URL input modes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22494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›  Real-time confidence 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2606039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›  History / log of predictions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96265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›  Model selector dropdown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331927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›  EDA dashboard tab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3675887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›  Batch upload (.csv)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403250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Segoe UI"/>
              </a:rPr>
              <a:t>›  Dark / Light theme toggle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438912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Segoe UI"/>
              </a:rPr>
              <a:t>›  Deploy: Streamlit Cloud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8" y="4572000"/>
            <a:ext cx="1463040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45902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app/web_app.py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4572000"/>
            <a:ext cx="1097280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45902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Week 3 Target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Week 4 — Telegram Bot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Instant fake news checks directly in your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651760" cy="4023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651760" cy="411480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4241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🤖 @FakeNewsBot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737360" cy="310896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99616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Hello! Send me any article text or news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847088"/>
            <a:ext cx="1554480" cy="31089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1883664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https://somesite.com/breaking-news-article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31136"/>
            <a:ext cx="1737360" cy="310896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26771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🔍 Analysing...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15184"/>
            <a:ext cx="1737360" cy="1115568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651760"/>
            <a:ext cx="15910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━━━━━━━━━━━━━━━━━━━━
🚨 FAKE NEWS DETECTED
Confidence: 94.1%
Category: politics
━━━━━━━━━━━━━━━━━━━━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803904"/>
            <a:ext cx="1554480" cy="310896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840480"/>
            <a:ext cx="14081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/history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87952"/>
            <a:ext cx="1737360" cy="914400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224528"/>
            <a:ext cx="15910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Segoe UI"/>
              </a:rPr>
              <a:t>📋 Last 5 predictions:
1. FAKE  94.1%
2. REAL  97.3%
3. FAKE  88.6%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005840"/>
            <a:ext cx="2834640" cy="40233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1005840"/>
            <a:ext cx="2834640" cy="54864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10698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96F3"/>
                </a:solidFill>
                <a:latin typeface="Segoe UI"/>
              </a:rPr>
              <a:t>Bot Commands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148132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nsolas"/>
              </a:rPr>
              <a:t>/start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170992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Welcome &amp; usage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19568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nsolas"/>
              </a:rPr>
              <a:t>/check &lt;text&gt;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218541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Analyse pasted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243230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nsolas"/>
              </a:rPr>
              <a:t>/url &lt;link&gt;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2660904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Analyse news URL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29077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nsolas"/>
              </a:rPr>
              <a:t>/history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6432" y="3136392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Show last 10 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38328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nsolas"/>
              </a:rPr>
              <a:t>/stats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3611880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Bot usage stats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38587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nsolas"/>
              </a:rPr>
              <a:t>/model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56432" y="40873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Show active model 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433425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Consolas"/>
              </a:rPr>
              <a:t>/help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562856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Full command 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005840"/>
            <a:ext cx="2423160" cy="40233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1005840"/>
            <a:ext cx="242316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10698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  <a:latin typeface="Segoe UI"/>
              </a:rPr>
              <a:t>Tech Stack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10528" y="1481328"/>
            <a:ext cx="2103120" cy="2560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0528" y="14996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python-telegram-bot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17922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Segoe UI"/>
              </a:rPr>
              <a:t>Bot framework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10528" y="2139696"/>
            <a:ext cx="2103120" cy="2560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0528" y="215798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BeautifulSoup4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2450591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Segoe UI"/>
              </a:rPr>
              <a:t>URL scraping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10528" y="2798064"/>
            <a:ext cx="2103120" cy="2560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0528" y="28163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SQLite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31089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Segoe UI"/>
              </a:rPr>
              <a:t>Chat history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10528" y="3456432"/>
            <a:ext cx="2103120" cy="2560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3474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Webhook / polling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65392" y="376732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Segoe UI"/>
              </a:rPr>
              <a:t>Deployment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10528" y="4114800"/>
            <a:ext cx="2103120" cy="25603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10528" y="4133087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Heroku / Railway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44256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D6E0"/>
                </a:solidFill>
                <a:latin typeface="Segoe UI"/>
              </a:rPr>
              <a:t>Cloud hosting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56432" y="4773168"/>
            <a:ext cx="1828800" cy="256032"/>
          </a:xfrm>
          <a:prstGeom prst="rect">
            <a:avLst/>
          </a:prstGeom>
          <a:solidFill>
            <a:srgbClr val="22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56432" y="479145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app/telegram_bot.py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0" y="4773168"/>
            <a:ext cx="1280160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0" y="47914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Segoe UI"/>
              </a:rPr>
              <a:t>Week 4 Target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Week 5 — Google Gemini 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Explainability &amp; intelligent analysis powered by Gemini Pro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  <a:latin typeface="Segoe UI"/>
              </a:rPr>
              <a:t>Our ML model classifies — Gemini explains WHY. This adds human-readable reasoning and trustworthiness to every prediction.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2084831" cy="283464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011680"/>
            <a:ext cx="2084831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8483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Segoe UI"/>
              </a:rPr>
              <a:t>🧠 Explainability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Gemini generates a natural-language explanation of why an article was flagged as fake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186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Why is it fake?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Key suspicious phrases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770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Source credibility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6312" y="2011680"/>
            <a:ext cx="2084831" cy="283464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96312" y="2011680"/>
            <a:ext cx="2084831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87752" y="208483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Segoe UI"/>
              </a:rPr>
              <a:t>📝 Article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87752" y="248716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Automatic 3-sentence summary of any news article for quick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2" y="32186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TL;DR summaries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87752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Key claims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87752" y="38770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Named entity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18304" y="2011680"/>
            <a:ext cx="2084831" cy="283464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18304" y="2011680"/>
            <a:ext cx="2084831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9744" y="208483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Segoe UI"/>
              </a:rPr>
              <a:t>🔎 Cross-Reference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248716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Gemini searches its knowledge to fact-check claims in the article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5468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9744" y="32186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Known fact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9744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Date / event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38770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Contradiction detection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0296" y="2011680"/>
            <a:ext cx="2084831" cy="283464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0296" y="2011680"/>
            <a:ext cx="2084831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1736" y="208483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Segoe UI"/>
              </a:rPr>
              <a:t>💬 Chatbot Q&amp;A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2487168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User can ask follow-up questions about any article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15468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31736" y="321868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Ask about sources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1736" y="3547872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Request more 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31736" y="38770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8CAE4"/>
                </a:solidFill>
                <a:latin typeface="Segoe UI"/>
              </a:rPr>
              <a:t>• Multi-turn dialogue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919472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API: Google Generative AI SDK (google-generativeai)  ·  Model: gemini-pro  ·  Free tier: 60 req/min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Week 6 — Google Lens / Vision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Detect fake news from screenshots &amp;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474720" cy="3749039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3474720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36192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Millions of fake news articles spread as screenshots on WhatsApp, Instagram, and Twitter. Text-based models can't see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50592"/>
            <a:ext cx="29260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2926080" cy="320040"/>
          </a:xfrm>
          <a:prstGeom prst="rect">
            <a:avLst/>
          </a:prstGeom>
          <a:solidFill>
            <a:srgbClr val="DD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871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🗞  BREAKING NEWS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2222"/>
                </a:solidFill>
                <a:latin typeface="Segoe UI"/>
              </a:rPr>
              <a:t>"Scientists confirm chocolate
cures all diseases — Big Pharma
hides the truth!"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5371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Segoe UI"/>
              </a:rPr>
              <a:t>📸  User sends this screenshot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166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051560"/>
            <a:ext cx="4709160" cy="3749039"/>
          </a:xfrm>
          <a:prstGeom prst="rect">
            <a:avLst/>
          </a:prstGeom>
          <a:solidFill>
            <a:srgbClr val="05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1051560"/>
            <a:ext cx="470916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111556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Segoe UI"/>
              </a:rPr>
              <a:t>Our Vision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1536192"/>
            <a:ext cx="4526280" cy="43891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1536192"/>
            <a:ext cx="54864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6362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①  Image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75564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User sends screenshot via bot/web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066543"/>
            <a:ext cx="4526280" cy="43891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2066543"/>
            <a:ext cx="54864" cy="43891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09397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Segoe UI"/>
              </a:rPr>
              <a:t>②  OCR Extraction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2286000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Google Vision API extracts text from image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596896"/>
            <a:ext cx="4526280" cy="43891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2596896"/>
            <a:ext cx="54864" cy="43891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2624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Segoe UI"/>
              </a:rPr>
              <a:t>③  Text Cleaning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2816352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Preprocess extracted text (same pipeline)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127248"/>
            <a:ext cx="4526280" cy="43891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3127248"/>
            <a:ext cx="54864" cy="43891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15467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Segoe UI"/>
              </a:rPr>
              <a:t>④  ML Classification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346704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TF-IDF + LR model predicts Fake / Real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657600"/>
            <a:ext cx="4526280" cy="43891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657600"/>
            <a:ext cx="54864" cy="438912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36850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Segoe UI"/>
              </a:rPr>
              <a:t>⑤  Gemini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3877056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AI explains result in plain language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187952"/>
            <a:ext cx="4526280" cy="43891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4187952"/>
            <a:ext cx="54864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21538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⑥  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407408"/>
            <a:ext cx="4206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Segoe UI"/>
              </a:rPr>
              <a:t>Return verdict + confidence + explanation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9392" y="4754880"/>
            <a:ext cx="182880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4773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google-cloud-vision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754880"/>
            <a:ext cx="2194560" cy="256032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77316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pytesseract (fallback)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Project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6-week development plan from baseline ML to AI-powered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24128"/>
            <a:ext cx="1444752" cy="4023360"/>
          </a:xfrm>
          <a:prstGeom prst="rect">
            <a:avLst/>
          </a:prstGeom>
          <a:solidFill>
            <a:srgbClr val="053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24128"/>
            <a:ext cx="14447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9728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Segoe U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34416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ML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92808"/>
            <a:ext cx="12618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TF-IDF pipeline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Logistic Regression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Naive Bayes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EDA notebook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Model serialisation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99.22% F1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078992"/>
            <a:ext cx="822960" cy="2377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0972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✓ 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9072" y="1024128"/>
            <a:ext cx="1444752" cy="40233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9072" y="1024128"/>
            <a:ext cx="14447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19072" y="109728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Segoe UI"/>
              </a:rPr>
              <a:t>WEEK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4" y="134416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Terminal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2880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0512" y="1892808"/>
            <a:ext cx="12618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CLI interface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Interactive prompts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Batch processing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URL scraping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Coloured output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History 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9544" y="1024128"/>
            <a:ext cx="1444752" cy="40233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9544" y="1024128"/>
            <a:ext cx="1444752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9544" y="109728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8CAE4"/>
                </a:solidFill>
                <a:latin typeface="Segoe UI"/>
              </a:rPr>
              <a:t>WEEK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134416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Web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182880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0984" y="1892808"/>
            <a:ext cx="12618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Streamlit UI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Text / URL input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Confidence bars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EDA dashboard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Batch upload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Cloud 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0016" y="1024128"/>
            <a:ext cx="1444752" cy="40233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024128"/>
            <a:ext cx="1444752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9728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WEEK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34416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Telegram Bot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182880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1455" y="1892808"/>
            <a:ext cx="12618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python-telegram-bot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Inline commands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Chat history DB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Broadcast alerts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Admin panel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Webhook deploy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0488" y="1024128"/>
            <a:ext cx="1444752" cy="40233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0488" y="1024128"/>
            <a:ext cx="1444752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0488" y="109728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Segoe UI"/>
              </a:rPr>
              <a:t>WEEK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34416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Gemini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182880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7" y="1892808"/>
            <a:ext cx="12618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Explainability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Article summaries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Fact-checking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Chatbot Q&amp;A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Multi-language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Gemini Pro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59" y="1024128"/>
            <a:ext cx="1444752" cy="4023360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59" y="1024128"/>
            <a:ext cx="14447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59" y="109728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Segoe UI"/>
              </a:rPr>
              <a:t>WEEK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1" y="1344168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Vision API +
Advanced 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182880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399" y="1892808"/>
            <a:ext cx="12618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Google Lens OCR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Screenshot input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BERT fine-tuning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Ensemble model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REST API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CCD6E0"/>
                </a:solidFill>
                <a:latin typeface="Segoe UI"/>
              </a:rPr>
              <a:t>›  Full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  <a:latin typeface="Segoe UI"/>
              </a:rPr>
              <a:t>Libraries, frameworks and APIs across all project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05840"/>
            <a:ext cx="1664208" cy="402336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005840"/>
            <a:ext cx="1664208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69848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Segoe UI"/>
              </a:rPr>
              <a:t>🤖  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" y="1572768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5910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Segoe UI"/>
              </a:rPr>
              <a:t>scikit-learn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901952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LR, NB, TF-IDF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" y="2377440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39572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Segoe UI"/>
              </a:rPr>
              <a:t>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70662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BERT (Week 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" y="3182112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320040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Segoe UI"/>
              </a:rPr>
              <a:t>numpy / 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511296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Data processing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" y="3986784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400507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Segoe UI"/>
              </a:rPr>
              <a:t>joblib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31596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Model serialisation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93392" y="1005840"/>
            <a:ext cx="1664208" cy="402336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005840"/>
            <a:ext cx="1664208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66544" y="1069848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Segoe UI"/>
              </a:rPr>
              <a:t>🔤  NLP &amp;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50876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84832" y="1572768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84832" y="15910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NLTK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2" y="1901952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Stopwords, stemmer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84832" y="2377440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4832" y="239572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spaCy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2" y="270662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NER, tokenization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84832" y="3182112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84832" y="320040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WordCloud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3511296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EDA visualisation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84832" y="3986784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84832" y="400507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Segoe UI"/>
              </a:rPr>
              <a:t>BeautifulSoup4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84832" y="431596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Web scraping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85615" y="1005840"/>
            <a:ext cx="1664208" cy="402336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85615" y="1005840"/>
            <a:ext cx="1664208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1069848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Segoe UI"/>
              </a:rPr>
              <a:t>🌐  Web &amp; API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150876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77055" y="1572768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77055" y="15910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Segoe UI"/>
              </a:rPr>
              <a:t>Streamlit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7055" y="1901952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Web 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77055" y="2377440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77055" y="239572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Segoe UI"/>
              </a:rPr>
              <a:t>FastAPI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77055" y="270662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REST endpoints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77055" y="3182112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77055" y="320040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Segoe UI"/>
              </a:rPr>
              <a:t>python-telegram-bot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77055" y="3511296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Telegram integration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77055" y="3986784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77055" y="400507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Segoe UI"/>
              </a:rPr>
              <a:t>requests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77055" y="431596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HTTP client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1005840"/>
            <a:ext cx="1664208" cy="402336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577840" y="1005840"/>
            <a:ext cx="1664208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50992" y="1069848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Segoe UI"/>
              </a:rPr>
              <a:t>☁️  AI &amp; Cloud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150876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79" y="1572768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79" y="15910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Segoe UI"/>
              </a:rPr>
              <a:t>Google Gemini Pro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79" y="1901952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Explainability 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79" y="2377440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69279" y="239572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Segoe UI"/>
              </a:rPr>
              <a:t>Google Vision API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79" y="270662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OCR from images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79" y="3182112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79" y="320040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Segoe UI"/>
              </a:rPr>
              <a:t>Firebase / SQLite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79" y="3511296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User data storage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79" y="3986784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79" y="400507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Segoe UI"/>
              </a:rPr>
              <a:t>Heroku / Railway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79" y="431596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Deployment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70064" y="1005840"/>
            <a:ext cx="1664208" cy="402336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70064" y="1005840"/>
            <a:ext cx="1664208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43216" y="1069848"/>
            <a:ext cx="15179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8CAE4"/>
                </a:solidFill>
                <a:latin typeface="Segoe UI"/>
              </a:rPr>
              <a:t>📊  Visualisation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1508760"/>
            <a:ext cx="8412480" cy="1371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461504" y="1572768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61504" y="15910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8CAE4"/>
                </a:solidFill>
                <a:latin typeface="Segoe UI"/>
              </a:rPr>
              <a:t>matplotlib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61504" y="1901952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Plots &amp; charts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61504" y="2377440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61504" y="239572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8CAE4"/>
                </a:solidFill>
                <a:latin typeface="Segoe UI"/>
              </a:rPr>
              <a:t>seaborn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61504" y="2706624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Statistical plots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61504" y="3182112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61504" y="320040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8CAE4"/>
                </a:solidFill>
                <a:latin typeface="Segoe UI"/>
              </a:rPr>
              <a:t>Plotly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61504" y="3511296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Interactive charts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461504" y="3986784"/>
            <a:ext cx="1481328" cy="292608"/>
          </a:xfrm>
          <a:prstGeom prst="rect">
            <a:avLst/>
          </a:prstGeom>
          <a:solidFill>
            <a:srgbClr val="15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461504" y="400507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8CAE4"/>
                </a:solidFill>
                <a:latin typeface="Segoe UI"/>
              </a:rPr>
              <a:t>Jupyter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61504" y="431596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Segoe UI"/>
              </a:rPr>
              <a:t>EDA notebooks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70848" y="0"/>
            <a:ext cx="73152" cy="51480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"/>
            <a:ext cx="54864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71799" y="1371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77840" y="137160"/>
            <a:ext cx="54864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83879" y="1371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3657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365760"/>
            <a:ext cx="54864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3657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5943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0" y="594360"/>
            <a:ext cx="54864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5943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8229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799" y="822960"/>
            <a:ext cx="54864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822960"/>
            <a:ext cx="54864" cy="54864"/>
          </a:xfrm>
          <a:prstGeom prst="rect">
            <a:avLst/>
          </a:prstGeom>
          <a:solidFill>
            <a:srgbClr val="0A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822960"/>
            <a:ext cx="54864" cy="54864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810512"/>
            <a:ext cx="84124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Segoe UI"/>
              </a:rPr>
              <a:t>AI-Based Fake News Detection System  ·  Capstone Design 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542032"/>
            <a:ext cx="1755648" cy="1170432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542032"/>
            <a:ext cx="1755648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63347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Segoe UI"/>
              </a:rPr>
              <a:t>44,898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15468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Articles
analysed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61488" y="2542032"/>
            <a:ext cx="1755648" cy="1170432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61488" y="2542032"/>
            <a:ext cx="1755648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1488" y="263347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B4D8"/>
                </a:solidFill>
                <a:latin typeface="Segoe UI"/>
              </a:rPr>
              <a:t>99.22%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315468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Best model
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91456" y="2542032"/>
            <a:ext cx="1755648" cy="1170432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91456" y="2542032"/>
            <a:ext cx="1755648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91456" y="263347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166"/>
                </a:solidFill>
                <a:latin typeface="Segoe UI"/>
              </a:rPr>
              <a:t>6 Phases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1456" y="315468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Full project
roadmap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2542032"/>
            <a:ext cx="1755648" cy="1170432"/>
          </a:xfrm>
          <a:prstGeom prst="rect">
            <a:avLst/>
          </a:prstGeom>
          <a:solidFill>
            <a:srgbClr val="10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21424" y="2542032"/>
            <a:ext cx="1755648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263347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F476F"/>
                </a:solidFill>
                <a:latin typeface="Segoe UI"/>
              </a:rPr>
              <a:t>3 APIs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1424" y="3154680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  <a:latin typeface="Segoe UI"/>
              </a:rPr>
              <a:t>Gemini + Vision
+ Telegram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931920"/>
            <a:ext cx="841248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  <a:latin typeface="Segoe UI"/>
              </a:rPr>
              <a:t>Q &amp; 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  <a:latin typeface="Segoe UI"/>
              </a:rPr>
              <a:t>github.com/FakeNews  ·  Built with Python, scikit-learn, Gemini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